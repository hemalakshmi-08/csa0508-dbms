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85" r:id="rId4"/>
    <p:sldId id="259" r:id="rId5"/>
    <p:sldId id="273" r:id="rId6"/>
    <p:sldId id="277" r:id="rId7"/>
    <p:sldId id="278" r:id="rId8"/>
    <p:sldId id="279" r:id="rId9"/>
    <p:sldId id="263" r:id="rId10"/>
    <p:sldId id="274" r:id="rId11"/>
    <p:sldId id="280" r:id="rId12"/>
    <p:sldId id="281" r:id="rId13"/>
    <p:sldId id="282" r:id="rId14"/>
    <p:sldId id="262" r:id="rId15"/>
    <p:sldId id="275" r:id="rId16"/>
    <p:sldId id="276" r:id="rId17"/>
    <p:sldId id="283" r:id="rId18"/>
    <p:sldId id="284" r:id="rId19"/>
    <p:sldId id="264" r:id="rId20"/>
    <p:sldId id="261" r:id="rId21"/>
    <p:sldId id="26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3216F4-6D4F-4D0A-B2BA-8DA4154CE08E}" v="30" dt="2026-07-21T05:02:48.2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lakshmi H" userId="8dd8aed8b7ee0ca7" providerId="LiveId" clId="{1632CE3F-D0B7-444E-94CD-A7F819800EF1}"/>
    <pc:docChg chg="undo custSel addSld modSld">
      <pc:chgData name="Hemalakshmi H" userId="8dd8aed8b7ee0ca7" providerId="LiveId" clId="{1632CE3F-D0B7-444E-94CD-A7F819800EF1}" dt="2026-07-21T11:57:39.345" v="10" actId="14100"/>
      <pc:docMkLst>
        <pc:docMk/>
      </pc:docMkLst>
      <pc:sldChg chg="addSp delSp modSp add mod">
        <pc:chgData name="Hemalakshmi H" userId="8dd8aed8b7ee0ca7" providerId="LiveId" clId="{1632CE3F-D0B7-444E-94CD-A7F819800EF1}" dt="2026-07-21T11:57:39.345" v="10" actId="14100"/>
        <pc:sldMkLst>
          <pc:docMk/>
          <pc:sldMk cId="2105101297" sldId="285"/>
        </pc:sldMkLst>
        <pc:spChg chg="del">
          <ac:chgData name="Hemalakshmi H" userId="8dd8aed8b7ee0ca7" providerId="LiveId" clId="{1632CE3F-D0B7-444E-94CD-A7F819800EF1}" dt="2026-07-21T11:57:09.939" v="1" actId="21"/>
          <ac:spMkLst>
            <pc:docMk/>
            <pc:sldMk cId="2105101297" sldId="285"/>
            <ac:spMk id="5" creationId="{8630254F-B280-5977-EE6A-FC0FAC2110CF}"/>
          </ac:spMkLst>
        </pc:spChg>
        <pc:spChg chg="del">
          <ac:chgData name="Hemalakshmi H" userId="8dd8aed8b7ee0ca7" providerId="LiveId" clId="{1632CE3F-D0B7-444E-94CD-A7F819800EF1}" dt="2026-07-21T11:57:13.051" v="2" actId="21"/>
          <ac:spMkLst>
            <pc:docMk/>
            <pc:sldMk cId="2105101297" sldId="285"/>
            <ac:spMk id="6" creationId="{F94D8483-30F7-8D4D-B020-D629C21808F4}"/>
          </ac:spMkLst>
        </pc:spChg>
        <pc:spChg chg="add del">
          <ac:chgData name="Hemalakshmi H" userId="8dd8aed8b7ee0ca7" providerId="LiveId" clId="{1632CE3F-D0B7-444E-94CD-A7F819800EF1}" dt="2026-07-21T11:57:16.168" v="4" actId="22"/>
          <ac:spMkLst>
            <pc:docMk/>
            <pc:sldMk cId="2105101297" sldId="285"/>
            <ac:spMk id="7" creationId="{CEAF8545-B223-0015-0AAD-4EF7AE667C1D}"/>
          </ac:spMkLst>
        </pc:spChg>
        <pc:picChg chg="add mod">
          <ac:chgData name="Hemalakshmi H" userId="8dd8aed8b7ee0ca7" providerId="LiveId" clId="{1632CE3F-D0B7-444E-94CD-A7F819800EF1}" dt="2026-07-21T11:57:39.345" v="10" actId="14100"/>
          <ac:picMkLst>
            <pc:docMk/>
            <pc:sldMk cId="2105101297" sldId="285"/>
            <ac:picMk id="8" creationId="{C42C3EA7-4B38-9068-4C7A-5805A202560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3906C-99E2-3D95-985E-E70D666BAF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71F68A-270C-D05C-7688-B4E81C7B6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A4C1D-4D07-3210-A326-2D562E651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6AB6-82C2-4DD3-89FA-2D7B251C7D96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18024-775F-504C-F0F8-79909CAEB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AEF9A-F53F-9B87-21C9-5A87113A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68A0D-A1D0-4CC5-B81E-05F4BF500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669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C7987-4D52-D74D-4A58-6C9A29190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B0A31-DCEC-F8DC-4C04-6A15C7812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FB070-80F5-3136-B846-AD24B38DD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6AB6-82C2-4DD3-89FA-2D7B251C7D96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84E06-6C73-F3FE-0B74-257EDD8F9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842D3-06A5-3979-4666-C55393243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68A0D-A1D0-4CC5-B81E-05F4BF500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80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A10A-5377-0A55-2671-7778A065A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67F5F-2F81-7A0C-725C-38AC7D780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7C506-1A0E-725E-91F8-CE23A8AEC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6AB6-82C2-4DD3-89FA-2D7B251C7D96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C9D64-5774-D8E1-6429-7E83F17F9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BA6DE-BD48-3F5A-CEA2-B5B4DA937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68A0D-A1D0-4CC5-B81E-05F4BF500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03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CF42E-359E-FBF0-83FA-B97CCA854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33739-A4E5-B35D-34E4-41B7E0B3AF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458B1-EA85-1735-CA9E-14EA6ED32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0D99D-EB49-75D2-3098-F8DAF3E2B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6AB6-82C2-4DD3-89FA-2D7B251C7D96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E1073-2FD8-9BCD-0ACE-5A69CA633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2E630-104D-4A2E-FEE2-75F4B583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68A0D-A1D0-4CC5-B81E-05F4BF500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832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15DD1-B825-E60E-1719-16C16EEB9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35440-EE4D-A7D6-247F-13D4575DC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040E2-5301-E234-9BE7-13618A0AE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A3EB8-6E45-1AE5-55AC-BA6926B7C1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7712B2-2A02-9950-5962-E1722A945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B7D3A0-A459-17C1-56E6-54B6E2D9F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6AB6-82C2-4DD3-89FA-2D7B251C7D96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3359DB-A221-B5B8-D323-409E2CD09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A3515D-C2B8-268C-B208-7AE239521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68A0D-A1D0-4CC5-B81E-05F4BF500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951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FC700-CC9C-FE3D-9550-9E5A8D012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790364-9478-C6DB-29C5-28E17DC3E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6AB6-82C2-4DD3-89FA-2D7B251C7D96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4B0CE-9AAD-4C73-67FE-274F9F14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E8F1ED-A04E-D1AF-9E58-268DFBB13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68A0D-A1D0-4CC5-B81E-05F4BF500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890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5EB2F6-B67C-061E-67D9-0EC6EC10A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6AB6-82C2-4DD3-89FA-2D7B251C7D96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686A47-9A5D-561C-2ECE-B57E4086A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5D213-9756-F746-CD2D-8D9EB70B1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68A0D-A1D0-4CC5-B81E-05F4BF500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698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A895E-88A4-4FD8-65D8-923A11109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222A9-9089-DEFC-C8B6-EB95F3E6F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2CF92-1DB0-EBE7-B308-54C3620B7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0B8F2-8BE8-EC0B-6D28-1882F44A8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6AB6-82C2-4DD3-89FA-2D7B251C7D96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F4D2F-7080-7F67-F6A0-57F398F81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64AFF-55FB-ADFE-03C7-F6571EB76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68A0D-A1D0-4CC5-B81E-05F4BF500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699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4BFCA-1C1B-BD6D-4081-968024BF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1A65E5-CA30-4C59-BFA1-F0BB34865F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C88A9E-26E7-F1F5-D134-2167CA465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BDE54-F010-A51A-30DC-333AAA7EB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6AB6-82C2-4DD3-89FA-2D7B251C7D96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F0AF30-F15D-2809-96BD-6B9E9F7D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23CAF-6D1F-2A5F-768C-AF754839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68A0D-A1D0-4CC5-B81E-05F4BF500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352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4F202-B577-D88F-1FB2-BD6CF2409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59B0BE-6E22-8062-357E-FB538199B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C3DDA-9592-6330-9F86-4E6748C8C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6AB6-82C2-4DD3-89FA-2D7B251C7D96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E12CA-AA25-5F20-60C7-A1B39D2DC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729E8-EB77-7F80-CB74-6A1C85DE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68A0D-A1D0-4CC5-B81E-05F4BF500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217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3FF20A-FEE6-2ACD-B918-4D1F03EE66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817B1D-0707-D6F6-BC6D-261404938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1598F-A92F-BCE7-51F5-4FAFC8E41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6AB6-82C2-4DD3-89FA-2D7B251C7D96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2BC6C-B2E7-1F76-DF35-0155FB6EA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645A6-0ECC-7308-37DC-FB158E846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68A0D-A1D0-4CC5-B81E-05F4BF500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605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0053B6-21A0-8218-9275-05EB55FD6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DE7F1-E5D4-C818-0015-37A9899D3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98D38-E3C1-BC07-26F2-20ED0371E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A6AB6-82C2-4DD3-89FA-2D7B251C7D96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ACFCD-435B-46F6-789B-56E2ABF5B4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D0FB7-3E22-91BB-ACD0-8DB0E6A63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568A0D-A1D0-4CC5-B81E-05F4BF500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81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A615A1-5121-4995-96BC-6329E076C9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03" y="189781"/>
            <a:ext cx="9506628" cy="15872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456B77-3996-5A3F-8788-DCF3B0DB5FCF}"/>
              </a:ext>
            </a:extLst>
          </p:cNvPr>
          <p:cNvSpPr txBox="1"/>
          <p:nvPr/>
        </p:nvSpPr>
        <p:spPr>
          <a:xfrm>
            <a:off x="3145766" y="1947480"/>
            <a:ext cx="59004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CSA0508 – Database Management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B05AA6-129B-08FF-F17C-BDB94838AB95}"/>
              </a:ext>
            </a:extLst>
          </p:cNvPr>
          <p:cNvSpPr txBox="1"/>
          <p:nvPr/>
        </p:nvSpPr>
        <p:spPr>
          <a:xfrm>
            <a:off x="3065252" y="2612235"/>
            <a:ext cx="60614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Components of  DBMS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1E30B6-0EAA-5886-F10F-BD40C2B7CAD2}"/>
              </a:ext>
            </a:extLst>
          </p:cNvPr>
          <p:cNvSpPr txBox="1"/>
          <p:nvPr/>
        </p:nvSpPr>
        <p:spPr>
          <a:xfrm>
            <a:off x="710240" y="4467208"/>
            <a:ext cx="17540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CF5C31-48EC-46CF-586D-DC6C2D974B88}"/>
              </a:ext>
            </a:extLst>
          </p:cNvPr>
          <p:cNvSpPr txBox="1"/>
          <p:nvPr/>
        </p:nvSpPr>
        <p:spPr>
          <a:xfrm>
            <a:off x="710240" y="4899255"/>
            <a:ext cx="30104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Ayyappan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B16047-6797-31EF-79C5-6B86FDE77D28}"/>
              </a:ext>
            </a:extLst>
          </p:cNvPr>
          <p:cNvSpPr txBox="1"/>
          <p:nvPr/>
        </p:nvSpPr>
        <p:spPr>
          <a:xfrm>
            <a:off x="8156435" y="4467208"/>
            <a:ext cx="19093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CB7354-D698-F81D-B718-F2BF55FD8A64}"/>
              </a:ext>
            </a:extLst>
          </p:cNvPr>
          <p:cNvSpPr txBox="1"/>
          <p:nvPr/>
        </p:nvSpPr>
        <p:spPr>
          <a:xfrm>
            <a:off x="8156435" y="4880903"/>
            <a:ext cx="39106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Hemalakshmi H (192571049)</a:t>
            </a:r>
          </a:p>
        </p:txBody>
      </p:sp>
    </p:spTree>
    <p:extLst>
      <p:ext uri="{BB962C8B-B14F-4D97-AF65-F5344CB8AC3E}">
        <p14:creationId xmlns:p14="http://schemas.microsoft.com/office/powerpoint/2010/main" val="1016847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55A13E-FE1E-B18D-C62A-CDB17E260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64AD7D4-2219-5765-008F-F6FAF7226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E0B445-62DF-1C10-8AB8-0C08487FF780}"/>
              </a:ext>
            </a:extLst>
          </p:cNvPr>
          <p:cNvSpPr txBox="1"/>
          <p:nvPr/>
        </p:nvSpPr>
        <p:spPr>
          <a:xfrm>
            <a:off x="4867117" y="536288"/>
            <a:ext cx="24268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1B2F8-6580-9B50-31DD-28B2091F9BCC}"/>
              </a:ext>
            </a:extLst>
          </p:cNvPr>
          <p:cNvSpPr txBox="1"/>
          <p:nvPr/>
        </p:nvSpPr>
        <p:spPr>
          <a:xfrm>
            <a:off x="1390671" y="1703586"/>
            <a:ext cx="9379789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Database Management System (DBMS) is built from several coordinated software modules.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three core internal components are: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work together to ensure efficient data retrieval, safe storage, and reliable multi-user access.</a:t>
            </a:r>
          </a:p>
        </p:txBody>
      </p:sp>
    </p:spTree>
    <p:extLst>
      <p:ext uri="{BB962C8B-B14F-4D97-AF65-F5344CB8AC3E}">
        <p14:creationId xmlns:p14="http://schemas.microsoft.com/office/powerpoint/2010/main" val="2845647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36C2D-FAB0-2406-904D-670789948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55B578-CE0E-A872-476A-48C8EE422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5F39AE-E50D-F8B5-08A9-FCF1CE0B9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pic>
        <p:nvPicPr>
          <p:cNvPr id="8" name="Picture 7" descr="DBMS architecture visual">
            <a:extLst>
              <a:ext uri="{FF2B5EF4-FFF2-40B4-BE49-F238E27FC236}">
                <a16:creationId xmlns:a16="http://schemas.microsoft.com/office/drawing/2014/main" id="{C42C3EA7-4B38-9068-4C7A-5805A2025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1108" y="419819"/>
            <a:ext cx="7332453" cy="620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101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D59ECE-DB0B-E734-2056-DDA6F412A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A0B714-D57E-A696-D852-310FF8302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A8E95F-41F6-55DB-6AFE-6E864D17682F}"/>
              </a:ext>
            </a:extLst>
          </p:cNvPr>
          <p:cNvSpPr txBox="1"/>
          <p:nvPr/>
        </p:nvSpPr>
        <p:spPr>
          <a:xfrm>
            <a:off x="4393425" y="461664"/>
            <a:ext cx="31802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141889-C392-F672-C4D2-714FA0E19FC6}"/>
              </a:ext>
            </a:extLst>
          </p:cNvPr>
          <p:cNvSpPr txBox="1"/>
          <p:nvPr/>
        </p:nvSpPr>
        <p:spPr>
          <a:xfrm>
            <a:off x="1052944" y="1745891"/>
            <a:ext cx="99601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query processor interprets user queries (mostly SQL) and converts them into low-level instructions that the DBMS can execute.</a:t>
            </a:r>
          </a:p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Parsing  - Checks SQL syntax and builds a parse tree.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Optimization  - Chooses the most efficient way to execute the query using cost-based algorithms.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Execution Engine  - Executes the optimized query plan using relational operators (selection, join, projection).</a:t>
            </a:r>
          </a:p>
        </p:txBody>
      </p:sp>
    </p:spTree>
    <p:extLst>
      <p:ext uri="{BB962C8B-B14F-4D97-AF65-F5344CB8AC3E}">
        <p14:creationId xmlns:p14="http://schemas.microsoft.com/office/powerpoint/2010/main" val="938621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C965D-9AAF-7982-CA13-F6B133EB4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08C002-4069-5CF2-88E7-E55186243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6BC1FF-7C80-3D8B-DB34-377ED1D60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D4C680-7AF8-A24B-7E3C-2B8BBE9E5BAB}"/>
              </a:ext>
            </a:extLst>
          </p:cNvPr>
          <p:cNvSpPr txBox="1"/>
          <p:nvPr/>
        </p:nvSpPr>
        <p:spPr>
          <a:xfrm>
            <a:off x="4393425" y="461664"/>
            <a:ext cx="31802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D0680-7506-9574-95F9-AECDE4FB7256}"/>
              </a:ext>
            </a:extLst>
          </p:cNvPr>
          <p:cNvSpPr txBox="1"/>
          <p:nvPr/>
        </p:nvSpPr>
        <p:spPr>
          <a:xfrm>
            <a:off x="2652622" y="1826403"/>
            <a:ext cx="748629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query execution time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efficient use of indexes and joins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high-level SQL into machine-level operations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552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7364E-BFCD-8B04-77F9-C930DA4E5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DC1616-E8B0-1E38-57EE-CDC7C7EE9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49C7AC-456B-083B-D9BE-104A1E474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FD93A7-665C-4BDC-4786-D8090FF5D3FB}"/>
              </a:ext>
            </a:extLst>
          </p:cNvPr>
          <p:cNvSpPr txBox="1"/>
          <p:nvPr/>
        </p:nvSpPr>
        <p:spPr>
          <a:xfrm>
            <a:off x="2599426" y="536288"/>
            <a:ext cx="72346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Processor: Parsing &amp; Validation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F94184-C418-4CA9-23B9-0B4E12D92F1E}"/>
              </a:ext>
            </a:extLst>
          </p:cNvPr>
          <p:cNvSpPr txBox="1"/>
          <p:nvPr/>
        </p:nvSpPr>
        <p:spPr>
          <a:xfrm>
            <a:off x="1662022" y="1774644"/>
            <a:ext cx="9437299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query is checked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errors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builds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tree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table names, column names, data types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the query follows relational rules</a:t>
            </a:r>
          </a:p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structured representation of the query ready for optimization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032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26D81-4E49-AB49-9184-308494013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60230C-AE08-56D4-E825-9B24FB971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05DC7CB-B9A3-68B2-EED8-F11CAE68B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9AD704-DA9E-461B-C436-465FDD417894}"/>
              </a:ext>
            </a:extLst>
          </p:cNvPr>
          <p:cNvSpPr txBox="1"/>
          <p:nvPr/>
        </p:nvSpPr>
        <p:spPr>
          <a:xfrm>
            <a:off x="2599426" y="536288"/>
            <a:ext cx="72346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Processor: Query Optimization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2A0141-55A0-36F7-5C8F-878E059A8021}"/>
              </a:ext>
            </a:extLst>
          </p:cNvPr>
          <p:cNvSpPr txBox="1"/>
          <p:nvPr/>
        </p:nvSpPr>
        <p:spPr>
          <a:xfrm>
            <a:off x="1662022" y="1774644"/>
            <a:ext cx="9437299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Chooses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execution plan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cost-based optimization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(I/O cost, CPU cost, index usage)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Reorders operations (e.g., push down selections)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best join method: nested-loop, hash join, sort-merge</a:t>
            </a:r>
          </a:p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Fastest possible plan for executing the query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625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936EA-F4F7-13D0-EF64-B8FDA98BD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CE17FB-29F7-BC38-006D-89E071E45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A95822-4CFB-A302-2C34-8F24088BA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198B6D-E770-293C-EA5B-F0B4EB8D122E}"/>
              </a:ext>
            </a:extLst>
          </p:cNvPr>
          <p:cNvSpPr txBox="1"/>
          <p:nvPr/>
        </p:nvSpPr>
        <p:spPr>
          <a:xfrm>
            <a:off x="3013493" y="536288"/>
            <a:ext cx="64180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Processor: Execution Engine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455058-5EE5-C40D-72C0-06D560B6E283}"/>
              </a:ext>
            </a:extLst>
          </p:cNvPr>
          <p:cNvSpPr txBox="1"/>
          <p:nvPr/>
        </p:nvSpPr>
        <p:spPr>
          <a:xfrm>
            <a:off x="1690777" y="1410355"/>
            <a:ext cx="6498566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relational operators: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Interacts with storage manager to fetch data</a:t>
            </a:r>
          </a:p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the final result set for the user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882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DC769-0BC2-2228-0356-DA7296C3C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9C9A69-9FCE-789A-4CB4-63CF5A6A1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D0FDC9-C712-620B-1EB6-70DAA1049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9045AE-4541-E9DE-7A2F-0200944E2AF1}"/>
              </a:ext>
            </a:extLst>
          </p:cNvPr>
          <p:cNvSpPr txBox="1"/>
          <p:nvPr/>
        </p:nvSpPr>
        <p:spPr>
          <a:xfrm>
            <a:off x="4467194" y="548578"/>
            <a:ext cx="33998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9FDE47-1096-AE2A-E14B-652B7859A514}"/>
              </a:ext>
            </a:extLst>
          </p:cNvPr>
          <p:cNvSpPr txBox="1"/>
          <p:nvPr/>
        </p:nvSpPr>
        <p:spPr>
          <a:xfrm>
            <a:off x="800628" y="1470263"/>
            <a:ext cx="10590743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storage manager handles how data is physically stored, organized, and retrieved on disk.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 Manager</a:t>
            </a: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Manages files, pages, and blocks on disk.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Buffer Manager</a:t>
            </a: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Moves data between disk and main memory; reduces disk I/O.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Index Manager</a:t>
            </a: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Maintains structures like B+ trees and hash indexes for fast access.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Record Manager</a:t>
            </a: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Handles record formats, layouts, and access methods.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618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1BD89-99DB-3E53-1610-894058479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8161EF-426B-5A3A-DAA5-BABE0CF86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3A7FE5-AC1D-22D8-C6A4-A70D737B4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9E40B9-3810-25B4-26B4-9E1E546DDC20}"/>
              </a:ext>
            </a:extLst>
          </p:cNvPr>
          <p:cNvSpPr txBox="1"/>
          <p:nvPr/>
        </p:nvSpPr>
        <p:spPr>
          <a:xfrm>
            <a:off x="4467194" y="548578"/>
            <a:ext cx="33998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656E7-0A7B-3519-F81C-2820F496351E}"/>
              </a:ext>
            </a:extLst>
          </p:cNvPr>
          <p:cNvSpPr txBox="1"/>
          <p:nvPr/>
        </p:nvSpPr>
        <p:spPr>
          <a:xfrm>
            <a:off x="3119126" y="1857886"/>
            <a:ext cx="6096000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efficient data storage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Minimizes disk access time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indexing and data organization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data structures for fast retrieval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765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6E351-5393-FB32-DC6B-A02B7E672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23E568-BBBB-2D77-37F1-A160C7C51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44A853-6F37-BE60-1B68-E0E97A02E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FC81C4-C9A8-453A-0B86-66A30117F008}"/>
              </a:ext>
            </a:extLst>
          </p:cNvPr>
          <p:cNvSpPr txBox="1"/>
          <p:nvPr/>
        </p:nvSpPr>
        <p:spPr>
          <a:xfrm>
            <a:off x="2254370" y="559691"/>
            <a:ext cx="80340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Manager: File &amp; Page Management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DB5578-DADC-E103-1319-561CE2C823BF}"/>
              </a:ext>
            </a:extLst>
          </p:cNvPr>
          <p:cNvSpPr txBox="1"/>
          <p:nvPr/>
        </p:nvSpPr>
        <p:spPr>
          <a:xfrm>
            <a:off x="2835215" y="1765871"/>
            <a:ext cx="7328817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 data into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page allocation, deallocation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physical placement of data on disk</a:t>
            </a:r>
          </a:p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disk usage and structured data storage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053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AAFC4-2184-4F6A-83C2-76714FC8F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7E6C58-97A8-A60F-5863-9F5EE9EA7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91A8A3-D59A-9B93-CA6A-1D59E2310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F23BDA-B080-976C-0833-F1CADF33B317}"/>
              </a:ext>
            </a:extLst>
          </p:cNvPr>
          <p:cNvSpPr txBox="1"/>
          <p:nvPr/>
        </p:nvSpPr>
        <p:spPr>
          <a:xfrm>
            <a:off x="2923298" y="536288"/>
            <a:ext cx="63145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Manager: Buffer Manager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BB2D39-1711-27EC-9F9C-FBAE141984DB}"/>
              </a:ext>
            </a:extLst>
          </p:cNvPr>
          <p:cNvSpPr txBox="1"/>
          <p:nvPr/>
        </p:nvSpPr>
        <p:spPr>
          <a:xfrm>
            <a:off x="2415397" y="1765871"/>
            <a:ext cx="7748636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pool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main memory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disk I/O by caching frequently accessed pages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replacement policies: LRU, MRU, Clock</a:t>
            </a:r>
          </a:p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query execution due to fewer disk reads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650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E6F6C-DC09-0EDE-6EB6-250697B4B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24DAD7-BF36-0EB8-8EF8-B80ED7BC9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4B19E8-F4DC-9D9A-F99A-373952542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C54CC4-E3CC-D7F9-71AD-26C36A1FBAC2}"/>
              </a:ext>
            </a:extLst>
          </p:cNvPr>
          <p:cNvSpPr txBox="1"/>
          <p:nvPr/>
        </p:nvSpPr>
        <p:spPr>
          <a:xfrm>
            <a:off x="2923298" y="536288"/>
            <a:ext cx="63145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Manager: Index Manager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488D15-4485-2955-D382-A9E35F512EF3}"/>
              </a:ext>
            </a:extLst>
          </p:cNvPr>
          <p:cNvSpPr txBox="1"/>
          <p:nvPr/>
        </p:nvSpPr>
        <p:spPr>
          <a:xfrm>
            <a:off x="3088258" y="1498601"/>
            <a:ext cx="6395048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and maintains indexes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index types: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B+ Tree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Index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Speeds up search, join, and sorting operations</a:t>
            </a:r>
          </a:p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access to specific records</a:t>
            </a:r>
          </a:p>
        </p:txBody>
      </p:sp>
    </p:spTree>
    <p:extLst>
      <p:ext uri="{BB962C8B-B14F-4D97-AF65-F5344CB8AC3E}">
        <p14:creationId xmlns:p14="http://schemas.microsoft.com/office/powerpoint/2010/main" val="2860641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E8B8B-CDC3-F0AF-6E7E-96C8DEB06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6700D7-9ECB-BCC0-7FB0-20C44B8AC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31017C-B0FA-842F-A8E3-2E36EE1CA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8B184D-C368-7FB6-1A1D-67DC47DCB801}"/>
              </a:ext>
            </a:extLst>
          </p:cNvPr>
          <p:cNvSpPr txBox="1"/>
          <p:nvPr/>
        </p:nvSpPr>
        <p:spPr>
          <a:xfrm>
            <a:off x="3956648" y="536288"/>
            <a:ext cx="41061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D6C884-27B5-815B-B0B2-C55B6A099405}"/>
              </a:ext>
            </a:extLst>
          </p:cNvPr>
          <p:cNvSpPr txBox="1"/>
          <p:nvPr/>
        </p:nvSpPr>
        <p:spPr>
          <a:xfrm>
            <a:off x="1443487" y="1668228"/>
            <a:ext cx="9305026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transaction manager ensures that multiple users can access the database safely without corrupting data.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Concurrency Control</a:t>
            </a: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Uses locking, timestamp ordering, or MVCC to prevent conflicts.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Recovery Manager</a:t>
            </a: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Uses logs and checkpoints to restore the database after crashes.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662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3E603-D07B-E8A2-5E93-CC09F642D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E21906-0043-A540-4880-F944D7E9F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AD5545-8B52-E957-53AC-EE4BC3473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7F0115-70F7-827D-4FF6-7E460EFB7B78}"/>
              </a:ext>
            </a:extLst>
          </p:cNvPr>
          <p:cNvSpPr txBox="1"/>
          <p:nvPr/>
        </p:nvSpPr>
        <p:spPr>
          <a:xfrm>
            <a:off x="3956648" y="536288"/>
            <a:ext cx="41061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86DB9A-9127-D304-AA32-863233B93669}"/>
              </a:ext>
            </a:extLst>
          </p:cNvPr>
          <p:cNvSpPr txBox="1"/>
          <p:nvPr/>
        </p:nvSpPr>
        <p:spPr>
          <a:xfrm>
            <a:off x="2053086" y="1877236"/>
            <a:ext cx="9305026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Scheduling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ACID properties: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 or nothing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valid state transitions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no interference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Durability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permanent results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023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4DC34-118E-8927-7331-41001EB9C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79407A-7898-1420-0FEF-A97EA7148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BCF5F4-4413-76BB-AD11-4986C1062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C3914B-D66B-2915-21AE-EB654B84538C}"/>
              </a:ext>
            </a:extLst>
          </p:cNvPr>
          <p:cNvSpPr txBox="1"/>
          <p:nvPr/>
        </p:nvSpPr>
        <p:spPr>
          <a:xfrm>
            <a:off x="2052031" y="559691"/>
            <a:ext cx="80570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Manager: Concurrency Control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3B9732-B492-41C1-8C06-57DF7C05CC94}"/>
              </a:ext>
            </a:extLst>
          </p:cNvPr>
          <p:cNvSpPr txBox="1"/>
          <p:nvPr/>
        </p:nvSpPr>
        <p:spPr>
          <a:xfrm>
            <a:off x="2662688" y="1498601"/>
            <a:ext cx="7079411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conflicts when multiple users access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Locking (2PL)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 Ordering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MVCC (Multi-Version Concurrency Control)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isolation and consistency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142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395BA-8E2E-2A04-7C69-48EAB2118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8A4B8A-E83D-B771-1526-0AB9A1B21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392766-A400-66A7-5AB9-DA1F76187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0DB4EF-1F00-6449-17DE-1BB22D92D2D0}"/>
              </a:ext>
            </a:extLst>
          </p:cNvPr>
          <p:cNvSpPr txBox="1"/>
          <p:nvPr/>
        </p:nvSpPr>
        <p:spPr>
          <a:xfrm>
            <a:off x="2280249" y="536288"/>
            <a:ext cx="72318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Manager: Recovery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22181F-FF1D-D871-9C86-E1341C7CAECC}"/>
              </a:ext>
            </a:extLst>
          </p:cNvPr>
          <p:cNvSpPr txBox="1"/>
          <p:nvPr/>
        </p:nvSpPr>
        <p:spPr>
          <a:xfrm>
            <a:off x="3048001" y="1428662"/>
            <a:ext cx="7079411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all operations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checkpoints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recovery time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crash: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Undo incomplete transactions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Redo committed transactions</a:t>
            </a:r>
          </a:p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returns to a consistent state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432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F09C1-4D30-6A7A-D681-128260337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C123AF-F21A-1564-CD1F-1B0E606BB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ACC605-D331-C262-542F-A8238EB9D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B4EA04-5AAB-4BBA-F8B5-A938F549E2F2}"/>
              </a:ext>
            </a:extLst>
          </p:cNvPr>
          <p:cNvSpPr txBox="1"/>
          <p:nvPr/>
        </p:nvSpPr>
        <p:spPr>
          <a:xfrm>
            <a:off x="4458991" y="536288"/>
            <a:ext cx="32431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ACID Properties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1F7592-2463-0453-BAD0-062EA82CEDAA}"/>
              </a:ext>
            </a:extLst>
          </p:cNvPr>
          <p:cNvSpPr txBox="1"/>
          <p:nvPr/>
        </p:nvSpPr>
        <p:spPr>
          <a:xfrm>
            <a:off x="2064590" y="1767967"/>
            <a:ext cx="8154838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Atomicity 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steps of a transaction happen completely or not at all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 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moves from one valid state to another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do not interfere with each other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Durability 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Committed results survive crashes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 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and predictable transaction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074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E5952-497E-040E-5BEE-1661D98E6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BB7522-7720-6BD4-48AF-8351A8776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67A73F-AE82-43B9-8264-E52420F32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01EB4A-F15D-1A24-898D-1D0C6F43B813}"/>
              </a:ext>
            </a:extLst>
          </p:cNvPr>
          <p:cNvSpPr txBox="1"/>
          <p:nvPr/>
        </p:nvSpPr>
        <p:spPr>
          <a:xfrm>
            <a:off x="2329062" y="536288"/>
            <a:ext cx="75030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These Components Work Together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BF7011-7283-B03B-3D26-B8A7B6943512}"/>
              </a:ext>
            </a:extLst>
          </p:cNvPr>
          <p:cNvSpPr txBox="1"/>
          <p:nvPr/>
        </p:nvSpPr>
        <p:spPr>
          <a:xfrm>
            <a:off x="1995578" y="1963817"/>
            <a:ext cx="894846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decides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decides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and how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do it.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it is done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safely and reliably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Together, they form the backbone of any DBMS.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4987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76952-D1DA-D7A3-104C-4623EBBB7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AB0C2A-0498-1D25-C204-BAAE435FA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0C192E-B689-1F2E-19D1-83BE61761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078163-1DCE-01BE-3ADB-8820D5C2363C}"/>
              </a:ext>
            </a:extLst>
          </p:cNvPr>
          <p:cNvSpPr txBox="1"/>
          <p:nvPr/>
        </p:nvSpPr>
        <p:spPr>
          <a:xfrm>
            <a:off x="4967759" y="485318"/>
            <a:ext cx="22256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AF521C-1DCA-A227-2A6B-9D8B2CE1EFB4}"/>
              </a:ext>
            </a:extLst>
          </p:cNvPr>
          <p:cNvSpPr txBox="1"/>
          <p:nvPr/>
        </p:nvSpPr>
        <p:spPr>
          <a:xfrm>
            <a:off x="994914" y="1602118"/>
            <a:ext cx="1001814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DBMS is not just a data storage tool — it is a complex software system.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 in coordination to provide: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query execution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data storage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multi-user access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Crash recovery and consistency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architecture makes modern databases robust, scalable, and dependable.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661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CCD96-7E2C-3467-8C03-FB0DA3E44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661066-C791-6F68-10DA-18BFCB598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3DAC58-7FB1-9D83-60CF-161E4FF61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0C4A4367-C489-9F6C-89CC-2BA28B117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732" y="1341776"/>
            <a:ext cx="8931215" cy="4202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267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824</Words>
  <Application>Microsoft Office PowerPoint</Application>
  <PresentationFormat>Widescreen</PresentationFormat>
  <Paragraphs>136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Hemalakshmi H</dc:creator>
  <cp:lastModifiedBy>Hemalakshmi H</cp:lastModifiedBy>
  <cp:revision>2</cp:revision>
  <dcterms:created xsi:type="dcterms:W3CDTF">2026-05-04T15:27:45Z</dcterms:created>
  <dcterms:modified xsi:type="dcterms:W3CDTF">2026-07-21T11:57:43Z</dcterms:modified>
</cp:coreProperties>
</file>